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1dfedfef3f4372" /><Relationship Type="http://schemas.openxmlformats.org/officeDocument/2006/relationships/extended-properties" Target="/docProps/app.xml" Id="R319d14e9ebc3480c" /><Relationship Type="http://schemas.openxmlformats.org/officeDocument/2006/relationships/officeDocument" Target="/ppt/presentation.xml" Id="Re9932740242841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e1057c798d49c8"/>
  </p:sldMasterIdLst>
  <p:notesMasterIdLst>
    <p:notesMasterId xmlns:r="http://schemas.openxmlformats.org/officeDocument/2006/relationships" r:id="R0228a8ab61e44675"/>
  </p:notesMasterIdLst>
  <p:sldIdLst>
    <p:sldId xmlns:r="http://schemas.openxmlformats.org/officeDocument/2006/relationships" id="256" r:id="R96cb9c6ab6594c05"/>
    <p:sldId xmlns:r="http://schemas.openxmlformats.org/officeDocument/2006/relationships" id="257" r:id="R5c924a2e30ba4aff"/>
    <p:sldId xmlns:r="http://schemas.openxmlformats.org/officeDocument/2006/relationships" id="258" r:id="R8f90238b01d641bf"/>
    <p:sldId xmlns:r="http://schemas.openxmlformats.org/officeDocument/2006/relationships" id="259" r:id="R7a55c9e93e444e07"/>
    <p:sldId xmlns:r="http://schemas.openxmlformats.org/officeDocument/2006/relationships" id="260" r:id="R91196f2d3c484fb9"/>
    <p:sldId xmlns:r="http://schemas.openxmlformats.org/officeDocument/2006/relationships" id="261" r:id="R59ea4ce7684d4ba4"/>
    <p:sldId xmlns:r="http://schemas.openxmlformats.org/officeDocument/2006/relationships" id="262" r:id="R4255fbbf7bb34ec7"/>
    <p:sldId xmlns:r="http://schemas.openxmlformats.org/officeDocument/2006/relationships" id="263" r:id="Rce33fe2bf78746c9"/>
    <p:sldId xmlns:r="http://schemas.openxmlformats.org/officeDocument/2006/relationships" id="264" r:id="R12ab797eb0024e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39ac66b37f4dd6" /><Relationship Type="http://schemas.openxmlformats.org/officeDocument/2006/relationships/slideMaster" Target="/ppt/slideMasters/slideMaster1.xml" Id="R6fe1057c798d49c8" /><Relationship Type="http://schemas.openxmlformats.org/officeDocument/2006/relationships/notesMaster" Target="/ppt/notesMasters/notesMaster1.xml" Id="R0228a8ab61e44675" /><Relationship Type="http://schemas.openxmlformats.org/officeDocument/2006/relationships/presProps" Target="/ppt/presProps.xml" Id="R26fc8edcba5f4fa5" /><Relationship Type="http://schemas.openxmlformats.org/officeDocument/2006/relationships/tableStyles" Target="/ppt/tableStyles.xml" Id="Rfefdcd51b4114c73" /><Relationship Type="http://schemas.openxmlformats.org/officeDocument/2006/relationships/slide" Target="/ppt/slides/slide1.xml" Id="R96cb9c6ab6594c05" /><Relationship Type="http://schemas.openxmlformats.org/officeDocument/2006/relationships/slide" Target="/ppt/slides/slide2.xml" Id="R5c924a2e30ba4aff" /><Relationship Type="http://schemas.openxmlformats.org/officeDocument/2006/relationships/slide" Target="/ppt/slides/slide3.xml" Id="R8f90238b01d641bf" /><Relationship Type="http://schemas.openxmlformats.org/officeDocument/2006/relationships/slide" Target="/ppt/slides/slide4.xml" Id="R7a55c9e93e444e07" /><Relationship Type="http://schemas.openxmlformats.org/officeDocument/2006/relationships/slide" Target="/ppt/slides/slide5.xml" Id="R91196f2d3c484fb9" /><Relationship Type="http://schemas.openxmlformats.org/officeDocument/2006/relationships/slide" Target="/ppt/slides/slide6.xml" Id="R59ea4ce7684d4ba4" /><Relationship Type="http://schemas.openxmlformats.org/officeDocument/2006/relationships/slide" Target="/ppt/slides/slide7.xml" Id="R4255fbbf7bb34ec7" /><Relationship Type="http://schemas.openxmlformats.org/officeDocument/2006/relationships/slide" Target="/ppt/slides/slide8.xml" Id="Rce33fe2bf78746c9" /><Relationship Type="http://schemas.openxmlformats.org/officeDocument/2006/relationships/slide" Target="/ppt/slides/slide9.xml" Id="R12ab797eb0024e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3dc17fa1e048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c994639b9d401d" /><Relationship Type="http://schemas.openxmlformats.org/officeDocument/2006/relationships/notesMaster" Target="/ppt/notesMasters/notesMaster1.xml" Id="Ra45041a1c5964b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c7e7987cf64756" /><Relationship Type="http://schemas.openxmlformats.org/officeDocument/2006/relationships/notesMaster" Target="/ppt/notesMasters/notesMaster1.xml" Id="R8743f16a662648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199a56f6e54a4e" /><Relationship Type="http://schemas.openxmlformats.org/officeDocument/2006/relationships/notesMaster" Target="/ppt/notesMasters/notesMaster1.xml" Id="Rf2efd187810b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5bac8833f84f1a" /><Relationship Type="http://schemas.openxmlformats.org/officeDocument/2006/relationships/notesMaster" Target="/ppt/notesMasters/notesMaster1.xml" Id="Rc2c9ac9a914d4e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0057a0b2674ff2" /><Relationship Type="http://schemas.openxmlformats.org/officeDocument/2006/relationships/notesMaster" Target="/ppt/notesMasters/notesMaster1.xml" Id="R697257efa4194a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6adb0a5cea4bea" /><Relationship Type="http://schemas.openxmlformats.org/officeDocument/2006/relationships/notesMaster" Target="/ppt/notesMasters/notesMaster1.xml" Id="R02b6c4739432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ae1114e96e44a6" /><Relationship Type="http://schemas.openxmlformats.org/officeDocument/2006/relationships/notesMaster" Target="/ppt/notesMasters/notesMaster1.xml" Id="R57d33187bbbc4c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d83fc8abfa4a46" /><Relationship Type="http://schemas.openxmlformats.org/officeDocument/2006/relationships/notesMaster" Target="/ppt/notesMasters/notesMaster1.xml" Id="R12244ee50fdb43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2ecd462f0a4f23" /><Relationship Type="http://schemas.openxmlformats.org/officeDocument/2006/relationships/notesMaster" Target="/ppt/notesMasters/notesMaster1.xml" Id="Rb045cbc82afb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 объединяет входящие заявки и подготавливает ответы для согласования. Все тексты слайдов редактируются.</a:t>
            </a:r>
          </a:p>
          <a:p xmlns:a="http://schemas.openxmlformats.org/drawingml/2006/main">
            <a:r>
              <a:t>Источник: исходный код intake-agent (core.py, adapters.py, app.py), README и результаты локальной проверки от 19.10.2026. Продукт находится на стадии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описание целевого процесса и гипотеза проблемы, а не результаты исследования рынка. На пилоте необходимо измерить фактическую ручную нагрузку.</a:t>
            </a:r>
          </a:p>
          <a:p xmlns:a="http://schemas.openxmlformats.org/drawingml/2006/main">
            <a:r>
              <a:t>Источник: исходный код intake-agent (core.py, adapters.py, app.py), README и результаты локальной проверки от 19.10.2026. Продукт находится на стадии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Адаптеры реализованы, рабочие аккаунты не подключены. Telegram использует getUpdates: https://core.telegram.org/bots/api#getupdates . Вложения и голос не анализируются. Похожий текст из разных каналов не объединяется автоматически.</a:t>
            </a:r>
          </a:p>
          <a:p xmlns:a="http://schemas.openxmlformats.org/drawingml/2006/main">
            <a:r>
              <a:t>Источник: исходный код intake-agent (core.py, adapters.py, app.py), README и результаты локальной проверки от 19.10.2026. Продукт находится на стадии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LLM-адаптер принимает справочник context.md. В текущем режиме demo действует фиксированный шаблон. Программная проверка не гарантирует фактическую правильность ответа.</a:t>
            </a:r>
          </a:p>
          <a:p xmlns:a="http://schemas.openxmlformats.org/drawingml/2006/main">
            <a:r>
              <a:t>Источник: исходный код intake-agent (core.py, adapters.py, app.py), README и результаты локальной проверки от 19.10.2026. Продукт находится на стадии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Вымышленный пример заявки. Черновик соответствует шаблону демонстрационного режима. Автоматической отправки клиентам нет.</a:t>
            </a:r>
          </a:p>
          <a:p xmlns:a="http://schemas.openxmlformats.org/drawingml/2006/main">
            <a:r>
              <a:t>Источник: исходный код intake-agent (core.py, adapters.py, app.py), README и результаты локальной проверки от 19.10.2026. Продукт находится на стадии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Пять тестов ядра прошли, дополнительно проверены авторизация API, повтор, ограничения статусов, согласование и журнал. Docker, реальные аккаунты и вызовы модели не проверялись.</a:t>
            </a:r>
          </a:p>
          <a:p xmlns:a="http://schemas.openxmlformats.org/drawingml/2006/main">
            <a:r>
              <a:t>Источник: исходный код intake-agent (core.py, adapters.py, app.py), README и результаты локальной проверки от 19.10.2026. Продукт находится на стадии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план оценки, а не достигнутые показатели. В БД есть временные отметки и события, но для замера трудозатрат сотрудника и качества потребуются дополнительные данные. Экономия: число заявок × разница среднего ручного времени.</a:t>
            </a:r>
          </a:p>
          <a:p xmlns:a="http://schemas.openxmlformats.org/drawingml/2006/main">
            <a:r>
              <a:t>Источник: исходный код intake-agent (core.py, adapters.py, app.py), README и результаты локальной проверки от 19.10.2026. Продукт находится на стадии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Предложенный план запуска. Сроки и объём выборки не согласованы. Секреты хранятся в окружении сервера. Включение модели означает передачу текста заявки выбранному провайдеру.</a:t>
            </a:r>
          </a:p>
          <a:p xmlns:a="http://schemas.openxmlformats.org/drawingml/2006/main">
            <a:r>
              <a:t>Источник: исходный код intake-agent (core.py, adapters.py, app.py), README и результаты локальной проверки от 19.10.2026. Продукт находится на стадии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 о расширении продукта принимается после проверки реального процесса. Отправку сообщений, панель и CRM следует согласовывать как отдельные этапы.</a:t>
            </a:r>
          </a:p>
          <a:p xmlns:a="http://schemas.openxmlformats.org/drawingml/2006/main">
            <a:r>
              <a:t>Источник: исходный код intake-agent (core.py, adapters.py, app.py), README и результаты локальной проверки от 19.10.2026. Продукт находится на стадии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83c54a2e846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b686fba9f45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8127df1be46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689baf3c64f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47f7b563440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3b2c5e21549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3F97C7-AFE0-44D0-B506-04D016173E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D7E9D9-1E84-49A6-91BF-2E12D149AD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7C933F-F1ED-44EE-B961-E404E2373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43C3DD-79C1-49C2-BDBD-C2E04F84E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63A03E-39DD-46FA-A70E-636FE5116E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6B0D75-8C72-419C-BB72-A8A87449B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EB510F-A9BC-4C21-89F5-38D66BD21D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38C2E7-6550-4F45-B3E8-03CD721A93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4B6493-F021-4D66-99F8-E890586C0A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E709CB-43C8-4835-9F4E-6EE37BBE8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ef453f715f466a" /><Relationship Type="http://schemas.openxmlformats.org/officeDocument/2006/relationships/slideLayout" Target="/ppt/slideLayouts/slideLayout1.xml" Id="R384f7c8e80174bb2" /><Relationship Type="http://schemas.openxmlformats.org/officeDocument/2006/relationships/slideLayout" Target="/ppt/slideLayouts/slideLayout2.xml" Id="Rd2c9583b89d84c19" /><Relationship Type="http://schemas.openxmlformats.org/officeDocument/2006/relationships/slideLayout" Target="/ppt/slideLayouts/slideLayout3.xml" Id="Rbcaf95b2c6684052" /><Relationship Type="http://schemas.openxmlformats.org/officeDocument/2006/relationships/slideLayout" Target="/ppt/slideLayouts/slideLayout4.xml" Id="R917d26fbdc584729" /><Relationship Type="http://schemas.openxmlformats.org/officeDocument/2006/relationships/slideLayout" Target="/ppt/slideLayouts/slideLayout5.xml" Id="R09c5a062e98748f3" /><Relationship Type="http://schemas.openxmlformats.org/officeDocument/2006/relationships/slideLayout" Target="/ppt/slideLayouts/slideLayout6.xml" Id="Rd628fd84bf4c4d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4f7c8e80174bb2"/>
    <p:sldLayoutId xmlns:r="http://schemas.openxmlformats.org/officeDocument/2006/relationships" id="2147483650" r:id="Rd2c9583b89d84c19"/>
    <p:sldLayoutId xmlns:r="http://schemas.openxmlformats.org/officeDocument/2006/relationships" id="2147483651" r:id="Rbcaf95b2c6684052"/>
    <p:sldLayoutId xmlns:r="http://schemas.openxmlformats.org/officeDocument/2006/relationships" id="2147483652" r:id="R917d26fbdc584729"/>
    <p:sldLayoutId xmlns:r="http://schemas.openxmlformats.org/officeDocument/2006/relationships" id="2147483653" r:id="R09c5a062e98748f3"/>
    <p:sldLayoutId xmlns:r="http://schemas.openxmlformats.org/officeDocument/2006/relationships" id="2147483654" r:id="Rd628fd84bf4c4d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b6d55d57b440c" /><Relationship Type="http://schemas.openxmlformats.org/officeDocument/2006/relationships/notesSlide" Target="/ppt/notesSlides/notesSlide1.xml" Id="R7771bdb5b41941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3b9aea2f148b1" /><Relationship Type="http://schemas.openxmlformats.org/officeDocument/2006/relationships/notesSlide" Target="/ppt/notesSlides/notesSlide2.xml" Id="Rb099cd0a801b4d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977bc6ed064e20" /><Relationship Type="http://schemas.openxmlformats.org/officeDocument/2006/relationships/notesSlide" Target="/ppt/notesSlides/notesSlide3.xml" Id="Rc2dabf9723214e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34e2356434c0f" /><Relationship Type="http://schemas.openxmlformats.org/officeDocument/2006/relationships/notesSlide" Target="/ppt/notesSlides/notesSlide4.xml" Id="R4ec1325333054a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e142f4bf54cba" /><Relationship Type="http://schemas.openxmlformats.org/officeDocument/2006/relationships/notesSlide" Target="/ppt/notesSlides/notesSlide5.xml" Id="R4d3aa9ab000248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7a6b4355441a4" /><Relationship Type="http://schemas.openxmlformats.org/officeDocument/2006/relationships/notesSlide" Target="/ppt/notesSlides/notesSlide6.xml" Id="Rf09b8af2cb6040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cb926c345f4e29" /><Relationship Type="http://schemas.openxmlformats.org/officeDocument/2006/relationships/notesSlide" Target="/ppt/notesSlides/notesSlide7.xml" Id="R02b061f04e6243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cfc53efac24371" /><Relationship Type="http://schemas.openxmlformats.org/officeDocument/2006/relationships/notesSlide" Target="/ppt/notesSlides/notesSlide8.xml" Id="R4030a15e376d44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1625a74b9b4a69" /><Relationship Type="http://schemas.openxmlformats.org/officeDocument/2006/relationships/notesSlide" Target="/ppt/notesSlides/notesSlide9.xml" Id="R2c969582132f4b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BB290-8AAF-41CC-A5CA-2CC3E2F9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АГЕНТ ОБРАБОТКИ ЗАЯВОК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FEB0C-A92C-408A-AD00-4050D7E3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Три канала.</a:t>
            </a:r>
          </a:p>
          <a:p xmlns:a="http://schemas.openxmlformats.org/drawingml/2006/main">
            <a:pPr>
              <a:def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Одна очередь.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E696A-98EE-4B65-9666-ABFF13C8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Сайт, почта и Telegram</a:t>
            </a:r>
          </a:p>
          <a:p xmlns:a="http://schemas.openxmlformats.org/drawingml/2006/main">
            <a:pPr>
              <a:def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с проверкой результата и восстановлением после ошибок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70B16-B1EA-4EC9-B115-E2E4B2A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Презентация продукта / Пилот / Октябрь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156247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B1536-D3A5-46B0-A616-E66E906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Ручная обработка входящих заявок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82DA5-310E-4D27-A597-E34BB048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E028E-04E3-4656-9E12-650F49EC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57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Заявка приходит</a:t>
            </a:r>
          </a:p>
          <a:p xmlns:a="http://schemas.openxmlformats.org/drawingml/2006/main">
            <a:pPr>
              <a:def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в один из каналов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E2061-CEE4-414D-8F5E-7B7B5E66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5095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Сотруднику приходится найти контекст,</a:t>
            </a:r>
          </a:p>
          <a:p xmlns:a="http://schemas.openxmlformats.org/drawingml/2006/main">
            <a: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уточнить запрос и подготовить ответ.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F950E-4509-45CE-8431-A85BF511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Где возникает лишняя работа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C83E0-71E9-4A6C-BB29-09143B00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3200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Переключение между сервисами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Повторный разбор одного сообщения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Восстановление работы после сбоя</a:t>
            </a:r>
          </a:p>
        </p:txBody>
      </p:sp>
    </p:spTree>
    <p:extLst>
      <p:ext uri="{BB962C8B-B14F-4D97-AF65-F5344CB8AC3E}">
        <p14:creationId xmlns:p14="http://schemas.microsoft.com/office/powerpoint/2010/main" val="424642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9051D-E9B2-4D7A-A281-95B8CB3A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Единый приём из трёх источников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E1E9B-7F99-4B6C-8AE3-A3F2614C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FAA97-A42C-4E30-91CA-CEC8390C91AC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429125"/>
                <a:gridCol w="4010025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1E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Источник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8D0"/>
                      </a:solidFill>
                      <a:prstDash val="solid"/>
                    </a:lnL>
                    <a:lnR w="9525">
                      <a:solidFill>
                        <a:srgbClr val="D6D8D0"/>
                      </a:solidFill>
                      <a:prstDash val="solid"/>
                    </a:lnR>
                    <a:lnT w="9525">
                      <a:solidFill>
                        <a:srgbClr val="D6D8D0"/>
                      </a:solidFill>
                      <a:prstDash val="solid"/>
                    </a:lnT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242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1E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Как поступает заявка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T w="9525">
                      <a:solidFill>
                        <a:srgbClr val="D6D8D0"/>
                      </a:solidFill>
                      <a:prstDash val="solid"/>
                    </a:lnT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242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1E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сохраняем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T w="9525">
                      <a:solidFill>
                        <a:srgbClr val="D6D8D0"/>
                      </a:solidFill>
                      <a:prstDash val="solid"/>
                    </a:lnT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24272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Форма сайта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8D0"/>
                      </a:solidFill>
                      <a:prstDash val="solid"/>
                    </a:lnL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Сервер сайта вызывает 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 отправки, контакт, текст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Почта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8D0"/>
                      </a:solidFill>
                      <a:prstDash val="solid"/>
                    </a:lnL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Чтение выделенной папки IMAP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 письма, отправитель, текст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Telegram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8D0"/>
                      </a:solidFill>
                      <a:prstDash val="solid"/>
                    </a:lnL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Личные сообщения боту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 обновления, чат, текст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E05AE-91B9-467D-8645-3476EDB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Каждое обращение получает карточку, статус и историю обработки.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074717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523AD-C1AA-463C-AB38-8374D469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Цикл работы агента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79DF5-BFAC-4AB1-B634-29828CBE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0DD08-C197-42B3-80FC-F2E3E0BF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8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40BCD-F32A-41A1-A4B4-2B2272C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002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Контекст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5A852-4B00-4432-BD96-72166D89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57475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Услуги и правила компании</a:t>
            </a:r>
          </a:p>
          <a:p xmlns:a="http://schemas.openxmlformats.org/drawingml/2006/main">
            <a: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в отдельном справочнике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4B1B3-518D-4909-B6CA-A62C8DEB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78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1EC54-58D2-4670-A21A-7055403F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002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Действие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8DF68-E7D7-4E04-9968-A040BBB0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57475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Сохранение заявки</a:t>
            </a:r>
          </a:p>
          <a:p xmlns:a="http://schemas.openxmlformats.org/drawingml/2006/main">
            <a: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и подготовка черновика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A0605-E933-4C00-9838-BBF21629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8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F5C8A-811D-42D8-96AE-D173674E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814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F7747-578A-4CED-94C6-D18A849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38675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Проверка формата ответа</a:t>
            </a:r>
          </a:p>
          <a:p xmlns:a="http://schemas.openxmlformats.org/drawingml/2006/main">
            <a: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и согласование человеком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52458-5E24-4D21-B3A1-8360EE9A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78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F408D-89C9-4232-8FC8-C9E09FB6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814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Восстановление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8EE0C-1659-4BC3-BC5C-4A29584E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38675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Повтор после сбоя</a:t>
            </a:r>
          </a:p>
          <a:p xmlns:a="http://schemas.openxmlformats.org/drawingml/2006/main">
            <a:pPr>
              <a:def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или ручной разбор</a:t>
            </a:r>
          </a:p>
        </p:txBody>
      </p:sp>
    </p:spTree>
    <p:extLst>
      <p:ext uri="{BB962C8B-B14F-4D97-AF65-F5344CB8AC3E}">
        <p14:creationId xmlns:p14="http://schemas.microsoft.com/office/powerpoint/2010/main" val="1885926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DAF8C-2D85-4F08-B366-2B96A36B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Пример обработки заявки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CE728-ED0F-4951-8077-10E98AFD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83467-FECB-443E-9371-990D8BA2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Входящее сообщение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C544C-D0FB-4A87-9161-CEB59EC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«Нужен помощник для обработки</a:t>
            </a:r>
          </a:p>
          <a:p xmlns:a="http://schemas.openxmlformats.org/drawingml/2006/main">
            <a: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заявок. Хотим запуститься</a:t>
            </a:r>
          </a:p>
          <a:p xmlns:a="http://schemas.openxmlformats.org/drawingml/2006/main">
            <a:pPr>
              <a:def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в следующем месяце».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0062A-29BF-4CBF-94FF-D8D4F7CC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431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Черновик для сотрудника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C791F-0EFD-480D-9313-BE23579D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8605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«Здравствуйте! Спасибо за обращение.</a:t>
            </a:r>
          </a:p>
          <a:p xmlns:a="http://schemas.openxmlformats.org/drawingml/2006/main">
            <a: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Уточните желаемый результат,</a:t>
            </a:r>
          </a:p>
          <a:p xmlns:a="http://schemas.openxmlformats.org/drawingml/2006/main">
            <a: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сроки и бюджет. После уточнения</a:t>
            </a:r>
          </a:p>
          <a:p xmlns:a="http://schemas.openxmlformats.org/drawingml/2006/main">
            <a:pPr>
              <a:def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мы сможем оценить задачу».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D3825-C800-4E95-BB71-6E8E9B4E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Сотрудник проверяет ответ. Согласование пока не запускает отправку.</a:t>
            </a:r>
          </a:p>
        </p:txBody>
      </p:sp>
    </p:spTree>
    <p:extLst>
      <p:ext uri="{BB962C8B-B14F-4D97-AF65-F5344CB8AC3E}">
        <p14:creationId xmlns:p14="http://schemas.microsoft.com/office/powerpoint/2010/main" val="485806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DE7A7-6094-4B2B-BB13-37FD8EC9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Текущая готовность продукта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505C3-E6E6-44D9-A2D9-E65A6270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46182-AF41-49EB-A0CB-E61CA69C6B05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1E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Готово в прототипе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8D0"/>
                      </a:solidFill>
                      <a:prstDash val="solid"/>
                    </a:lnL>
                    <a:lnR w="9525">
                      <a:solidFill>
                        <a:srgbClr val="D6D8D0"/>
                      </a:solidFill>
                      <a:prstDash val="solid"/>
                    </a:lnR>
                    <a:lnT w="9525">
                      <a:solidFill>
                        <a:srgbClr val="D6D8D0"/>
                      </a:solidFill>
                      <a:prstDash val="solid"/>
                    </a:lnT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242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1E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Следующий этап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T w="9525">
                      <a:solidFill>
                        <a:srgbClr val="D6D8D0"/>
                      </a:solidFill>
                      <a:prstDash val="solid"/>
                    </a:lnT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24272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Три адаптера и общая очередь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8D0"/>
                      </a:solidFill>
                      <a:prstDash val="solid"/>
                    </a:lnL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Подключение рабочих источников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Защита от повторной доставки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8D0"/>
                      </a:solidFill>
                      <a:prstDash val="solid"/>
                    </a:lnL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Выбор модели и настройка контекста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Повторы, история, согласование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8D0"/>
                      </a:solidFill>
                      <a:prstDash val="solid"/>
                    </a:lnL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Панель оператора и интеграция с CRM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Локальные тесты ядра и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8D0"/>
                      </a:solidFill>
                      <a:prstDash val="solid"/>
                    </a:lnL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7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 на реальных заявках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8D0"/>
                      </a:solidFill>
                      <a:prstDash val="solid"/>
                    </a:lnR>
                    <a:lnB w="9525">
                      <a:solidFill>
                        <a:srgbClr val="D6D8D0"/>
                      </a:solidFill>
                      <a:prstDash val="solid"/>
                    </a:lnB>
                    <a:solidFill>
                      <a:srgbClr val="F3F1E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31F08-9463-49B9-8326-DE9D3A20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Сейчас: локальный пилот с демонстрационным ответом. Публичного сервиса нет.</a:t>
            </a:r>
          </a:p>
        </p:txBody>
      </p:sp>
    </p:spTree>
    <p:extLst>
      <p:ext uri="{BB962C8B-B14F-4D97-AF65-F5344CB8AC3E}">
        <p14:creationId xmlns:p14="http://schemas.microsoft.com/office/powerpoint/2010/main" val="79035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AAF79-1938-4ED2-B486-0512D530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Как измерим пользу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E463E-319E-4E6C-AD2C-BB74B4AA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72376-5538-47AD-A0C9-C4BA7AC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Время сотрудника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7BF93-B426-43E7-BBC0-BE35C039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71675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Минуты на заявку до и после подключения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20BEF-28C2-485C-8E2B-F7D3EDD8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Качество черновиков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DD5C3-8CF2-4F8B-B694-44E9BECD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Доля ответов без существенных исправлений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FB424-596E-4CB3-85BA-49F2BE1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Надёжность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BE840-361B-4D1E-A458-D4235F55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43325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Доля доставленных заявок, дошедших до проверки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BDDDB-DDD5-448A-9E8B-6C8A2026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Расходы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CA649-2373-401B-ABD7-F2F70F26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Стоимость модели и инфраструктуры на заявку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63B42-5C8A-46FB-B552-6F263349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Эффект пока не измерен. Целевые значения согласуем до пилота.</a:t>
            </a:r>
          </a:p>
        </p:txBody>
      </p:sp>
    </p:spTree>
    <p:extLst>
      <p:ext uri="{BB962C8B-B14F-4D97-AF65-F5344CB8AC3E}">
        <p14:creationId xmlns:p14="http://schemas.microsoft.com/office/powerpoint/2010/main" val="1661265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2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90E9D-39D9-4611-B988-881FDA3F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Пилот на одном бизнес-процессе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22B4C-93AA-4B38-972E-FB4B516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DD0C6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7C83E-E367-4545-B025-8CB15D77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01  Подключение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C522B-6EE2-43FB-8108-6BDD3A93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Сайт, выделенная папка почты</a:t>
            </a:r>
          </a:p>
          <a:p xmlns:a="http://schemas.openxmlformats.org/drawingml/2006/main">
            <a: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и отдельный Telegram-бот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04853-BC41-420A-B865-CEA22E65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02  Настройка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E5455-9F21-4A99-B0EB-FB554BE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Услуги, правила ответов</a:t>
            </a:r>
          </a:p>
          <a:p xmlns:a="http://schemas.openxmlformats.org/drawingml/2006/main">
            <a: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и выбранная языковая 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81359-6221-49A9-8054-B4FEB02A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03  Проверка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A219B-D0DD-4D67-83C7-45B6E112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Тестовые заявки, повторы</a:t>
            </a:r>
          </a:p>
          <a:p xmlns:a="http://schemas.openxmlformats.org/drawingml/2006/main">
            <a: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и сценарии отказа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24A29-246E-44FD-9A90-E75A85AB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04  Оценка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261DC-0762-4F93-AEEE-70715C5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Сравнение ручной нагрузки</a:t>
            </a:r>
          </a:p>
          <a:p xmlns:a="http://schemas.openxmlformats.org/drawingml/2006/main">
            <a:pPr>
              <a:def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3F1EA"/>
                </a:solidFill>
                <a:latin typeface="DejaVu Sans"/>
                <a:ea typeface="DejaVu Sans"/>
                <a:cs typeface="DejaVu Sans"/>
              </a:rPr>
              <a:t>и качества ответов</a:t>
            </a:r>
          </a:p>
        </p:txBody>
      </p:sp>
    </p:spTree>
    <p:extLst>
      <p:ext uri="{BB962C8B-B14F-4D97-AF65-F5344CB8AC3E}">
        <p14:creationId xmlns:p14="http://schemas.microsoft.com/office/powerpoint/2010/main" val="18174940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66D89-8848-4E77-B49E-F31DA750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D92FD-2DA8-4DE1-8D30-E71E6B29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046EA-4C46-460D-BC3F-65D8C254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38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Подключить реальные</a:t>
            </a:r>
          </a:p>
          <a:p xmlns:a="http://schemas.openxmlformats.org/drawingml/2006/main">
            <a:pPr>
              <a:def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42725"/>
                </a:solidFill>
                <a:latin typeface="DejaVu Sans"/>
                <a:ea typeface="DejaVu Sans"/>
                <a:cs typeface="DejaVu Sans"/>
              </a:rPr>
              <a:t>источники заявок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D1AC7-3962-46B8-ADE6-7AF132EE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Нужны адрес сайта, почтовый ящик и Telegram-бот.</a:t>
            </a:r>
          </a:p>
          <a:p xmlns:a="http://schemas.openxmlformats.org/drawingml/2006/main">
            <a:pPr>
              <a:def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86E67"/>
                </a:solidFill>
                <a:latin typeface="DejaVu Sans"/>
                <a:ea typeface="DejaVu Sans"/>
                <a:cs typeface="DejaVu Sans"/>
              </a:rPr>
              <a:t>Ключи настраиваются на сервере.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A24E0-E2B0-4680-BAC1-943104DA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Цель пилота: подтвердить экономию времени</a:t>
            </a:r>
          </a:p>
          <a:p xmlns:a="http://schemas.openxmlformats.org/drawingml/2006/main">
            <a:pPr>
              <a:def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CF582F"/>
                </a:solidFill>
                <a:latin typeface="DejaVu Sans"/>
                <a:ea typeface="DejaVu Sans"/>
                <a:cs typeface="DejaVu Sans"/>
              </a:rPr>
              <a:t>при сохранении контроля над ответами.</a:t>
            </a:r>
          </a:p>
        </p:txBody>
      </p:sp>
    </p:spTree>
    <p:extLst>
      <p:ext uri="{BB962C8B-B14F-4D97-AF65-F5344CB8AC3E}">
        <p14:creationId xmlns:p14="http://schemas.microsoft.com/office/powerpoint/2010/main" val="406184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2026-10-19T09:10:27.1580000Z</dcterms:created>
  <dcterms:modified xsi:type="dcterms:W3CDTF">2026-10-19T09:10:27.1580000Z</dcterms:modified>
</coreProperties>
</file>